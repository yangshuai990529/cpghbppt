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78" r:id="rId4"/>
    <p:sldId id="276" r:id="rId6"/>
    <p:sldId id="279" r:id="rId7"/>
    <p:sldId id="259" r:id="rId8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产品概要设计" id="{72540452-2904-4ccd-9cea-ce3f5930cbcb}">
          <p14:sldIdLst>
            <p14:sldId id="256"/>
            <p14:sldId id="278"/>
            <p14:sldId id="276"/>
            <p14:sldId id="279"/>
            <p14:sldId id="25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0000"/>
    <a:srgbClr val="FE2C23"/>
    <a:srgbClr val="BED5ED"/>
    <a:srgbClr val="E8F2FC"/>
    <a:srgbClr val="DFEB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DC459-2FDE-384B-BC4D-E0C5A62CC53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69F79E-B6B7-534B-AAEE-1F443B7D50D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spTree>
      <p:nvGrpSpPr>
        <p:cNvPr id="1" name=""/>
        <p:cNvGrpSpPr/>
        <p:nvPr/>
      </p:nvGrpSpPr>
      <p:grpSpPr/>
      <p:pic>
        <p:nvPicPr>
          <p:cNvPr id="4" name="图片 3" descr="未标题-2-0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" name="图片 15" descr="资源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560560" y="560070"/>
            <a:ext cx="2009140" cy="1650365"/>
          </a:xfrm>
          <a:prstGeom prst="rect">
            <a:avLst/>
          </a:prstGeom>
        </p:spPr>
      </p:pic>
      <p:pic>
        <p:nvPicPr>
          <p:cNvPr id="3" name="图片 2" descr="TCL&amp;amp;雅典娜LOGO-RGB-横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9075" y="896620"/>
            <a:ext cx="4690110" cy="15754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/>
      <p:grpSp>
        <p:nvGrpSpPr>
          <p:cNvPr id="8" name="组合 12"/>
          <p:cNvGrpSpPr/>
          <p:nvPr userDrawn="1"/>
        </p:nvGrpSpPr>
        <p:grpSpPr>
          <a:xfrm>
            <a:off x="0" y="0"/>
            <a:ext cx="3200400" cy="901700"/>
            <a:chOff x="0" y="0"/>
            <a:chExt cx="3200400" cy="901700"/>
          </a:xfrm>
        </p:grpSpPr>
        <p:pic>
          <p:nvPicPr>
            <p:cNvPr id="9" name="图片 8" descr="图片包含 图形用户界面&amp;#xA;&amp;#xA;描述已自动生成"/>
            <p:cNvPicPr>
              <a:picLocks noChangeAspect="1"/>
            </p:cNvPicPr>
            <p:nvPr/>
          </p:nvPicPr>
          <p:blipFill rotWithShape="1">
            <a:blip r:embed="rId2"/>
            <a:srcRect r="68049"/>
            <a:stretch>
              <a:fillRect/>
            </a:stretch>
          </p:blipFill>
          <p:spPr>
            <a:xfrm>
              <a:off x="0" y="0"/>
              <a:ext cx="1022559" cy="901700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10" name="直线连接符 9"/>
            <p:cNvCxnSpPr/>
            <p:nvPr/>
          </p:nvCxnSpPr>
          <p:spPr>
            <a:xfrm>
              <a:off x="1108710" y="593368"/>
              <a:ext cx="209169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967788" y="6356350"/>
            <a:ext cx="2743200" cy="365125"/>
          </a:xfrm>
        </p:spPr>
        <p:txBody>
          <a:bodyPr/>
          <a:lstStyle/>
          <a:p>
            <a:fld id="{2BFE292F-1EBE-6D4A-B339-A324D614A372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16" name="图片 15" descr="资源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560560" y="560070"/>
            <a:ext cx="2009140" cy="1650365"/>
          </a:xfrm>
          <a:prstGeom prst="rect">
            <a:avLst/>
          </a:prstGeom>
        </p:spPr>
      </p:pic>
      <p:pic>
        <p:nvPicPr>
          <p:cNvPr id="5" name="图片 4" descr="TCL&amp;amp;雅典娜LOGO-RGB-横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9330" y="209550"/>
            <a:ext cx="2140585" cy="718185"/>
          </a:xfrm>
          <a:prstGeom prst="rect">
            <a:avLst/>
          </a:prstGeom>
        </p:spPr>
      </p:pic>
      <p:sp>
        <p:nvSpPr>
          <p:cNvPr id="3" name="文本框 2"/>
          <p:cNvSpPr/>
          <p:nvPr userDrawn="1"/>
        </p:nvSpPr>
        <p:spPr>
          <a:xfrm>
            <a:off x="8907140" y="353198"/>
            <a:ext cx="1107996" cy="2154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800" dirty="0" smtClean="0">
                <a:solidFill>
                  <a:srgbClr val="FF0000"/>
                </a:solidFill>
              </a:rPr>
              <a:t>机密材料，请勿外传</a:t>
            </a:r>
            <a:endParaRPr lang="zh-CN" altLang="en-US" sz="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967788" y="6356350"/>
            <a:ext cx="2743200" cy="365125"/>
          </a:xfrm>
        </p:spPr>
        <p:txBody>
          <a:bodyPr/>
          <a:lstStyle/>
          <a:p>
            <a:fld id="{2BFE292F-1EBE-6D4A-B339-A324D614A372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5" name="图片 4" descr="TCL&amp;amp;雅典娜LOGO-RGB-横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79330" y="209550"/>
            <a:ext cx="2140585" cy="718185"/>
          </a:xfrm>
          <a:prstGeom prst="rect">
            <a:avLst/>
          </a:prstGeom>
        </p:spPr>
      </p:pic>
      <p:sp>
        <p:nvSpPr>
          <p:cNvPr id="6" name="文本框 5"/>
          <p:cNvSpPr/>
          <p:nvPr userDrawn="1"/>
        </p:nvSpPr>
        <p:spPr>
          <a:xfrm>
            <a:off x="8907140" y="353198"/>
            <a:ext cx="1107996" cy="2154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800" dirty="0" smtClean="0">
                <a:solidFill>
                  <a:srgbClr val="FF0000"/>
                </a:solidFill>
              </a:rPr>
              <a:t>机密材料，请勿外传</a:t>
            </a:r>
            <a:endParaRPr lang="zh-CN" altLang="en-US" sz="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/>
      <p:pic>
        <p:nvPicPr>
          <p:cNvPr id="11" name="图片 10" descr="徽标&amp;#xA;&amp;#xA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0800" y="2997198"/>
            <a:ext cx="1231900" cy="863600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967788" y="6356350"/>
            <a:ext cx="2743200" cy="365125"/>
          </a:xfrm>
        </p:spPr>
        <p:txBody>
          <a:bodyPr/>
          <a:lstStyle/>
          <a:p>
            <a:fld id="{2BFE292F-1EBE-6D4A-B339-A324D614A372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4" name="图片 3" descr="TCL&amp;amp;雅典娜LOGO-RGB-横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9330" y="209550"/>
            <a:ext cx="2140585" cy="718185"/>
          </a:xfrm>
          <a:prstGeom prst="rect">
            <a:avLst/>
          </a:prstGeom>
        </p:spPr>
      </p:pic>
      <p:sp>
        <p:nvSpPr>
          <p:cNvPr id="7" name="文本框 6"/>
          <p:cNvSpPr/>
          <p:nvPr userDrawn="1"/>
        </p:nvSpPr>
        <p:spPr>
          <a:xfrm>
            <a:off x="8907140" y="353198"/>
            <a:ext cx="1107996" cy="2154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800" dirty="0" smtClean="0">
                <a:solidFill>
                  <a:srgbClr val="FF0000"/>
                </a:solidFill>
              </a:rPr>
              <a:t>机密材料，请勿外传</a:t>
            </a:r>
            <a:endParaRPr lang="zh-CN" altLang="en-US" sz="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幻灯片">
    <p:spTree>
      <p:nvGrpSpPr>
        <p:cNvPr id="1" name=""/>
        <p:cNvGrpSpPr/>
        <p:nvPr/>
      </p:nvGrpSpPr>
      <p:grpSpPr/>
      <p:sp>
        <p:nvSpPr>
          <p:cNvPr id="4" name="矩形 3"/>
          <p:cNvSpPr/>
          <p:nvPr userDrawn="1"/>
        </p:nvSpPr>
        <p:spPr>
          <a:xfrm>
            <a:off x="10570040" y="6111102"/>
            <a:ext cx="11272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 err="1">
                <a:solidFill>
                  <a:srgbClr val="898989"/>
                </a:solidFill>
                <a:latin typeface="FZLanTingHei-M-GBK" panose="02000000000000000000" pitchFamily="2" charset="-122"/>
                <a:ea typeface="FZLanTingHei-M-GBK" panose="02000000000000000000" pitchFamily="2" charset="-122"/>
              </a:rPr>
              <a:t>www.tcl.com</a:t>
            </a:r>
            <a:endParaRPr lang="zh-CN" altLang="en-US" sz="1200" dirty="0">
              <a:solidFill>
                <a:srgbClr val="898989"/>
              </a:solidFill>
              <a:latin typeface="FZLanTingHei-M-GBK" panose="02000000000000000000" pitchFamily="2" charset="-122"/>
              <a:ea typeface="FZLanTingHei-M-GBK" panose="02000000000000000000" pitchFamily="2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2714943" y="2624455"/>
            <a:ext cx="6761480" cy="1609090"/>
            <a:chOff x="4732" y="4064"/>
            <a:chExt cx="10648" cy="2534"/>
          </a:xfrm>
        </p:grpSpPr>
        <p:grpSp>
          <p:nvGrpSpPr>
            <p:cNvPr id="6" name="组合 5"/>
            <p:cNvGrpSpPr/>
            <p:nvPr userDrawn="1"/>
          </p:nvGrpSpPr>
          <p:grpSpPr>
            <a:xfrm>
              <a:off x="4732" y="4064"/>
              <a:ext cx="2198" cy="2535"/>
              <a:chOff x="14291" y="2850"/>
              <a:chExt cx="3166" cy="3651"/>
            </a:xfrm>
          </p:grpSpPr>
          <p:pic>
            <p:nvPicPr>
              <p:cNvPr id="3" name="图片 2"/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4291" y="2850"/>
                <a:ext cx="3166" cy="2719"/>
              </a:xfrm>
              <a:prstGeom prst="rect">
                <a:avLst/>
              </a:prstGeom>
            </p:spPr>
          </p:pic>
          <p:sp>
            <p:nvSpPr>
              <p:cNvPr id="5" name="文本框 4"/>
              <p:cNvSpPr/>
              <p:nvPr userDrawn="1"/>
            </p:nvSpPr>
            <p:spPr>
              <a:xfrm>
                <a:off x="14296" y="5805"/>
                <a:ext cx="3157" cy="69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sz="1400" dirty="0">
                    <a:solidFill>
                      <a:srgbClr val="E40013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THANK YOU</a:t>
                </a:r>
                <a:endParaRPr lang="en-US" altLang="zh-CN" sz="1400" dirty="0">
                  <a:solidFill>
                    <a:srgbClr val="E40013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13" name="组合 12"/>
            <p:cNvGrpSpPr/>
            <p:nvPr userDrawn="1"/>
          </p:nvGrpSpPr>
          <p:grpSpPr>
            <a:xfrm>
              <a:off x="9330" y="4509"/>
              <a:ext cx="6050" cy="1646"/>
              <a:chOff x="17856" y="4364"/>
              <a:chExt cx="13672" cy="3719"/>
            </a:xfrm>
          </p:grpSpPr>
          <p:sp>
            <p:nvSpPr>
              <p:cNvPr id="10" name="文本框 9"/>
              <p:cNvSpPr/>
              <p:nvPr userDrawn="1"/>
            </p:nvSpPr>
            <p:spPr>
              <a:xfrm>
                <a:off x="17876" y="4364"/>
                <a:ext cx="13632" cy="1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dist"/>
                <a:r>
                  <a:rPr lang="en-US" altLang="zh-CN" sz="2400" b="1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领先</a:t>
                </a:r>
                <a:r>
                  <a:rPr lang="en-US" altLang="zh-CN" sz="2400" b="1" dirty="0">
                    <a:solidFill>
                      <a:srgbClr val="7E7E7E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科技</a:t>
                </a:r>
                <a:r>
                  <a:rPr lang="en-US" altLang="zh-CN" sz="2400" b="1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和合共生</a:t>
                </a:r>
                <a:endParaRPr lang="en-US" altLang="zh-CN" sz="24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2" name="文本框 11"/>
              <p:cNvSpPr/>
              <p:nvPr userDrawn="1"/>
            </p:nvSpPr>
            <p:spPr>
              <a:xfrm>
                <a:off x="17856" y="6445"/>
                <a:ext cx="13672" cy="1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dist"/>
                <a:r>
                  <a:rPr lang="en-US" altLang="zh-CN" sz="16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Building a Sustainable &amp; Connected</a:t>
                </a:r>
                <a:endPara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algn="dist"/>
                <a:r>
                  <a:rPr lang="en-US" altLang="zh-CN" sz="16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Future with Advanced Technology</a:t>
                </a:r>
                <a:endPara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cxnSp>
          <p:nvCxnSpPr>
            <p:cNvPr id="7" name="直接连接符 6"/>
            <p:cNvCxnSpPr/>
            <p:nvPr userDrawn="1"/>
          </p:nvCxnSpPr>
          <p:spPr>
            <a:xfrm>
              <a:off x="8130" y="4128"/>
              <a:ext cx="0" cy="2407"/>
            </a:xfrm>
            <a:prstGeom prst="line">
              <a:avLst/>
            </a:prstGeom>
            <a:ln w="28575" cap="flat" cmpd="sng">
              <a:solidFill>
                <a:srgbClr val="7E7E7E"/>
              </a:solidFill>
              <a:prstDash val="solid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260924" y="6356350"/>
            <a:ext cx="2743200" cy="365125"/>
          </a:xfrm>
        </p:spPr>
        <p:txBody>
          <a:bodyPr/>
          <a:lstStyle/>
          <a:p>
            <a:fld id="{2BFE292F-1EBE-6D4A-B339-A324D614A372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5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8944" y="228310"/>
            <a:ext cx="854075" cy="2730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E292F-1EBE-6D4A-B339-A324D614A37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/>
          <p:nvPr/>
        </p:nvSpPr>
        <p:spPr bwMode="auto">
          <a:xfrm>
            <a:off x="407035" y="3075940"/>
            <a:ext cx="584454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0" i="0" u="none" strike="noStrike">
                <a:solidFill>
                  <a:srgbClr val="FFFFFF"/>
                </a:solidFill>
                <a:latin typeface="PingFang SC Regular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lang="zh-CN" altLang="en-US" sz="2800" b="0" i="0" u="none" strike="noStrike">
                <a:solidFill>
                  <a:srgbClr val="FFFFFF"/>
                </a:solidFill>
                <a:latin typeface="PingFang SC Regular" panose="020B0400000000000000" charset="-122"/>
                <a:ea typeface="PingFang SC" panose="020B0400000000000000" charset="-122"/>
                <a:cs typeface="PingFang SC" panose="020B0400000000000000" charset="-122"/>
              </a:rPr>
              <a:t>主标题</a:t>
            </a:r>
            <a:endParaRPr lang="zh-CN" altLang="en-US" sz="2800" b="0" i="0" u="none" strike="noStrike">
              <a:solidFill>
                <a:srgbClr val="FFFFFF"/>
              </a:solidFill>
              <a:latin typeface="PingFang SC Regular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r>
              <a:rPr lang="en-US" altLang="zh-CN" sz="2800" b="0" i="0" u="none" strike="noStrike">
                <a:solidFill>
                  <a:srgbClr val="FFFFFF"/>
                </a:solidFill>
                <a:latin typeface="PingFang SC Regular" panose="020B0400000000000000" charset="-122"/>
                <a:ea typeface="PingFang SC" panose="020B0400000000000000" charset="-122"/>
                <a:cs typeface="PingFang SC" panose="020B0400000000000000" charset="-122"/>
              </a:rPr>
              <a:t>  </a:t>
            </a:r>
            <a:endParaRPr lang="en-US" altLang="zh-CN" sz="2800" b="0" i="0" u="none" strike="noStrike">
              <a:solidFill>
                <a:srgbClr val="FFFFFF"/>
              </a:solidFill>
              <a:latin typeface="PingFang SC Regular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r>
              <a:rPr lang="en-US" altLang="zh-CN" sz="2800" b="0" i="0" u="none" strike="noStrike">
                <a:solidFill>
                  <a:srgbClr val="FFFFFF"/>
                </a:solidFill>
                <a:latin typeface="PingFang SC Regular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lang="zh-CN" altLang="en-US" sz="2800" b="0" i="0" u="none" strike="noStrike">
                <a:solidFill>
                  <a:srgbClr val="FFFFFF"/>
                </a:solidFill>
                <a:latin typeface="PingFang SC Regular" panose="020B0400000000000000" charset="-122"/>
                <a:ea typeface="PingFang SC" panose="020B0400000000000000" charset="-122"/>
                <a:cs typeface="PingFang SC" panose="020B0400000000000000" charset="-122"/>
              </a:rPr>
              <a:t>产品规划</a:t>
            </a:r>
            <a:r>
              <a:rPr lang="zh-CN" altLang="en-US" sz="2800" b="0" i="0" u="none" strike="noStrike">
                <a:solidFill>
                  <a:srgbClr val="FFFFFF"/>
                </a:solidFill>
                <a:latin typeface="PingFang SC Regular" panose="020B0400000000000000" charset="-122"/>
                <a:ea typeface="PingFang SC" panose="020B0400000000000000" charset="-122"/>
                <a:cs typeface="PingFang SC" panose="020B0400000000000000" charset="-122"/>
              </a:rPr>
              <a:t>部</a:t>
            </a:r>
            <a:endParaRPr lang="zh-CN" altLang="en-US" sz="2800" b="0" i="0" u="none" strike="noStrike">
              <a:solidFill>
                <a:srgbClr val="FFFFFF"/>
              </a:solidFill>
              <a:latin typeface="PingFang SC Regular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662228" y="6093193"/>
            <a:ext cx="3797495" cy="36830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spAutoFit/>
          </a:bodyPr>
          <a:lstStyle/>
          <a:p>
            <a:pPr algn="l"/>
            <a:r>
              <a:rPr lang="zh-CN" altLang="en-US" sz="1800" b="0" i="0" u="none" strike="noStrike">
                <a:solidFill>
                  <a:srgbClr val="FFFFFF"/>
                </a:solidFill>
                <a:latin typeface="PingFang SC Regular" panose="020B0400000000000000" charset="-122"/>
                <a:ea typeface="PingFang SC" panose="020B0400000000000000" charset="-122"/>
                <a:cs typeface="PingFang SC" panose="020B0400000000000000" charset="-122"/>
              </a:rPr>
              <a:t>时间：</a:t>
            </a:r>
            <a:r>
              <a:rPr lang="en-US" altLang="zh-CN" sz="1800" b="0" i="0" u="none" strike="noStrike">
                <a:solidFill>
                  <a:srgbClr val="FFFFFF"/>
                </a:solidFill>
                <a:latin typeface="PingFang SC Regular" panose="020B0400000000000000" charset="-122"/>
                <a:ea typeface="PingFang SC" panose="020B0400000000000000" charset="-122"/>
                <a:cs typeface="PingFang SC" panose="020B0400000000000000" charset="-122"/>
              </a:rPr>
              <a:t>  </a:t>
            </a:r>
            <a:r>
              <a:rPr lang="zh-CN" altLang="en-US" sz="1800" b="0" i="0" u="none" strike="noStrike">
                <a:solidFill>
                  <a:srgbClr val="FFFFFF"/>
                </a:solidFill>
                <a:latin typeface="PingFang SC Regular" panose="020B0400000000000000" charset="-122"/>
                <a:ea typeface="PingFang SC" panose="020B0400000000000000" charset="-122"/>
                <a:cs typeface="PingFang SC" panose="020B0400000000000000" charset="-122"/>
              </a:rPr>
              <a:t>作者：</a:t>
            </a:r>
            <a:endParaRPr lang="zh-CN" altLang="en-US" sz="1800" b="0" i="0" u="none" strike="noStrike">
              <a:solidFill>
                <a:srgbClr val="FFFFFF"/>
              </a:solidFill>
              <a:latin typeface="PingFang SC Regular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fld id="{6385F8BC-5640-6CA1-85FC-6709985AE24E}" type="slidenum">
              <a:rPr lang="zh-CN"/>
            </a:fld>
            <a:endParaRPr lang="zh-CN"/>
          </a:p>
        </p:txBody>
      </p:sp>
      <p:sp>
        <p:nvSpPr>
          <p:cNvPr id="8" name="文本框 7"/>
          <p:cNvSpPr txBox="1"/>
          <p:nvPr/>
        </p:nvSpPr>
        <p:spPr>
          <a:xfrm>
            <a:off x="4728210" y="3168015"/>
            <a:ext cx="33928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 b="1">
                <a:solidFill>
                  <a:srgbClr val="FE2C23"/>
                </a:solidFill>
                <a:latin typeface="PingFang SC Regular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子</a:t>
            </a:r>
            <a:r>
              <a:rPr lang="zh-CN" altLang="en-US" sz="2800" b="1">
                <a:solidFill>
                  <a:srgbClr val="FE2C23"/>
                </a:solidFill>
                <a:latin typeface="PingFang SC Regular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标题</a:t>
            </a:r>
            <a:endParaRPr lang="zh-CN" altLang="en-US" sz="2800" b="1">
              <a:solidFill>
                <a:srgbClr val="FE2C23"/>
              </a:solidFill>
              <a:latin typeface="PingFang SC Regular" panose="020B0400000000000000" charset="-122"/>
              <a:ea typeface="PingFang SC" panose="020B0400000000000000" charset="-122"/>
              <a:cs typeface="PingFang SC" panose="020B0400000000000000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896778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85F8BC-5640-6CA1-85FC-6709985AE24E}" type="slidenum">
              <a:rPr lang="zh-CN"/>
            </a:fld>
            <a:endParaRPr lang="zh-CN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896778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85F8BC-5640-6CA1-85FC-6709985AE24E}" type="slidenum">
              <a:rPr lang="zh-CN"/>
            </a:fld>
            <a:endParaRPr lang="zh-CN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/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resource_record_key" val="{&quot;10&quot;:[50063704,4522380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WPS 演示</Application>
  <PresentationFormat/>
  <Paragraphs>14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5" baseType="lpstr">
      <vt:lpstr>Arial</vt:lpstr>
      <vt:lpstr>宋体</vt:lpstr>
      <vt:lpstr>Wingdings</vt:lpstr>
      <vt:lpstr>Arial</vt:lpstr>
      <vt:lpstr>FZLanTingHei-M-GBK</vt:lpstr>
      <vt:lpstr>冬青黑体简体中文</vt:lpstr>
      <vt:lpstr>微软雅黑</vt:lpstr>
      <vt:lpstr>PingFang SC Regular</vt:lpstr>
      <vt:lpstr>PingFang SC</vt:lpstr>
      <vt:lpstr>方正雅意黑 GB18030L2</vt:lpstr>
      <vt:lpstr>宋体</vt:lpstr>
      <vt:lpstr>Arial Unicode MS</vt:lpstr>
      <vt:lpstr>等线 Light</vt:lpstr>
      <vt:lpstr>汉仪中等线KW</vt:lpstr>
      <vt:lpstr>等线</vt:lpstr>
      <vt:lpstr>DengXian</vt:lpstr>
      <vt:lpstr>Calibri</vt:lpstr>
      <vt:lpstr>Helvetica Neue</vt:lpstr>
      <vt:lpstr>汉仪书宋二KW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不具名</cp:lastModifiedBy>
  <cp:revision>41</cp:revision>
  <dcterms:created xsi:type="dcterms:W3CDTF">2026-09-19T10:24:14Z</dcterms:created>
  <dcterms:modified xsi:type="dcterms:W3CDTF">2026-09-19T10:24:14Z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696698E90C1A256BE2CB516AA5D20F6D_43</vt:lpwstr>
  </property>
</Properties>
</file>